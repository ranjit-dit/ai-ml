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Tahoma"/>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ahoma-bold.fntdata"/><Relationship Id="rId14" Type="http://schemas.openxmlformats.org/officeDocument/2006/relationships/font" Target="fonts/Tahoma-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831850" y="790576"/>
            <a:ext cx="10515600" cy="273367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8000"/>
              <a:buFont typeface="Calibri"/>
              <a:buNone/>
            </a:pPr>
            <a:r>
              <a:rPr lang="en-US" sz="8000"/>
              <a:t>Machine Learning</a:t>
            </a:r>
            <a:br>
              <a:rPr lang="en-US"/>
            </a:br>
            <a:r>
              <a:rPr lang="en-US" sz="4800"/>
              <a:t>with Python</a:t>
            </a:r>
            <a:endParaRPr sz="4800"/>
          </a:p>
        </p:txBody>
      </p:sp>
      <p:sp>
        <p:nvSpPr>
          <p:cNvPr id="85" name="Google Shape;85;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888888"/>
              </a:buClr>
              <a:buSzPts val="2400"/>
              <a:buNone/>
            </a:pPr>
            <a:r>
              <a:rPr lang="en-US"/>
              <a:t>By: Er. Aayush Adhikari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365125"/>
            <a:ext cx="10515600" cy="13556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91" name="Google Shape;9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Machine learning (ML) is defined as a discipline of artificial intelligence (AI) that provides machines the ability to automatically learn from data and past experiences to identify patterns and make predictions with minimal human intervention. </a:t>
            </a:r>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Machine learning derives insightful information from large volumes of data by leveraging algorithms to identify patterns and learn in an iterative process. ML algorithms use computation methods to learn directly from data instead of relying on any predetermined equation that may serve as a model.</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idx="1" type="body"/>
          </p:nvPr>
        </p:nvSpPr>
        <p:spPr>
          <a:xfrm>
            <a:off x="838200" y="800100"/>
            <a:ext cx="5181600" cy="53768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Supervised Learning</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Trained using labeled data.</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Predicts the output</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Models take direct feedback to check whether it predict the correct output.</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It includes various algorithms like Regression, Support Vector Machine, Decision Tree, Bayesian Logic, etc.</a:t>
            </a:r>
            <a:endParaRPr/>
          </a:p>
          <a:p>
            <a:pPr indent="0" lvl="0" marL="0" rtl="0" algn="l">
              <a:lnSpc>
                <a:spcPct val="90000"/>
              </a:lnSpc>
              <a:spcBef>
                <a:spcPts val="1000"/>
              </a:spcBef>
              <a:spcAft>
                <a:spcPts val="0"/>
              </a:spcAft>
              <a:buClr>
                <a:schemeClr val="dk1"/>
              </a:buClr>
              <a:buSzPts val="2800"/>
              <a:buNone/>
            </a:pPr>
            <a:r>
              <a:t/>
            </a:r>
            <a:endParaRPr>
              <a:latin typeface="Tahoma"/>
              <a:ea typeface="Tahoma"/>
              <a:cs typeface="Tahoma"/>
              <a:sym typeface="Tahoma"/>
            </a:endParaRPr>
          </a:p>
          <a:p>
            <a:pPr indent="0" lvl="0" marL="0" rtl="0" algn="l">
              <a:lnSpc>
                <a:spcPct val="90000"/>
              </a:lnSpc>
              <a:spcBef>
                <a:spcPts val="1000"/>
              </a:spcBef>
              <a:spcAft>
                <a:spcPts val="0"/>
              </a:spcAft>
              <a:buClr>
                <a:schemeClr val="dk1"/>
              </a:buClr>
              <a:buSzPts val="2800"/>
              <a:buNone/>
            </a:pPr>
            <a:r>
              <a:t/>
            </a:r>
            <a:endParaRPr>
              <a:latin typeface="Tahoma"/>
              <a:ea typeface="Tahoma"/>
              <a:cs typeface="Tahoma"/>
              <a:sym typeface="Tahoma"/>
            </a:endParaRPr>
          </a:p>
        </p:txBody>
      </p:sp>
      <p:sp>
        <p:nvSpPr>
          <p:cNvPr id="97" name="Google Shape;97;p15"/>
          <p:cNvSpPr txBox="1"/>
          <p:nvPr>
            <p:ph idx="2" type="body"/>
          </p:nvPr>
        </p:nvSpPr>
        <p:spPr>
          <a:xfrm>
            <a:off x="6172200" y="800100"/>
            <a:ext cx="5181600" cy="53768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Times New Roman"/>
                <a:ea typeface="Times New Roman"/>
                <a:cs typeface="Times New Roman"/>
                <a:sym typeface="Times New Roman"/>
              </a:rPr>
              <a:t>Unsupervised Learning</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Trained using unlabeled data.</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Finds hidden patterns of data.</a:t>
            </a:r>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model does not take any feedback.</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It includes various algorithms like Clustering, KNN, etc.</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38200" y="365125"/>
            <a:ext cx="10515600" cy="6007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3" name="Google Shape;103;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838200" y="365125"/>
            <a:ext cx="10515600" cy="58451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9" name="Google Shape;109;p17"/>
          <p:cNvPicPr preferRelativeResize="0"/>
          <p:nvPr/>
        </p:nvPicPr>
        <p:blipFill rotWithShape="1">
          <a:blip r:embed="rId3">
            <a:alphaModFix/>
          </a:blip>
          <a:srcRect b="0" l="0" r="0" t="0"/>
          <a:stretch/>
        </p:blipFill>
        <p:spPr>
          <a:xfrm>
            <a:off x="0" y="0"/>
            <a:ext cx="12192000" cy="6857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0" y="0"/>
            <a:ext cx="12192000" cy="68579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5" name="Google Shape;115;p18"/>
          <p:cNvPicPr preferRelativeResize="0"/>
          <p:nvPr/>
        </p:nvPicPr>
        <p:blipFill rotWithShape="1">
          <a:blip r:embed="rId3">
            <a:alphaModFix/>
          </a:blip>
          <a:srcRect b="0" l="0" r="0" t="0"/>
          <a:stretch/>
        </p:blipFill>
        <p:spPr>
          <a:xfrm>
            <a:off x="0" y="1"/>
            <a:ext cx="12192000" cy="68579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0" y="1"/>
            <a:ext cx="12192000" cy="685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endParaRPr/>
          </a:p>
        </p:txBody>
      </p:sp>
      <p:pic>
        <p:nvPicPr>
          <p:cNvPr id="121" name="Google Shape;121;p19"/>
          <p:cNvPicPr preferRelativeResize="0"/>
          <p:nvPr/>
        </p:nvPicPr>
        <p:blipFill rotWithShape="1">
          <a:blip r:embed="rId3">
            <a:alphaModFix/>
          </a:blip>
          <a:srcRect b="0" l="0" r="0" t="0"/>
          <a:stretch/>
        </p:blipFill>
        <p:spPr>
          <a:xfrm>
            <a:off x="685800" y="0"/>
            <a:ext cx="1051560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838200" y="365126"/>
            <a:ext cx="10515600" cy="863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Other packages…</a:t>
            </a:r>
            <a:endParaRPr/>
          </a:p>
        </p:txBody>
      </p:sp>
      <p:sp>
        <p:nvSpPr>
          <p:cNvPr id="127" name="Google Shape;127;p20"/>
          <p:cNvSpPr txBox="1"/>
          <p:nvPr>
            <p:ph idx="1" type="body"/>
          </p:nvPr>
        </p:nvSpPr>
        <p:spPr>
          <a:xfrm>
            <a:off x="838200" y="1447800"/>
            <a:ext cx="10515600" cy="47291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Pandas: </a:t>
            </a:r>
            <a:endParaRPr/>
          </a:p>
          <a:p>
            <a:pPr indent="0" lvl="0" marL="0" rtl="0" algn="l">
              <a:lnSpc>
                <a:spcPct val="90000"/>
              </a:lnSpc>
              <a:spcBef>
                <a:spcPts val="1000"/>
              </a:spcBef>
              <a:spcAft>
                <a:spcPts val="0"/>
              </a:spcAft>
              <a:buClr>
                <a:schemeClr val="dk1"/>
              </a:buClr>
              <a:buSzPts val="2800"/>
              <a:buNone/>
            </a:pPr>
            <a:r>
              <a:rPr lang="en-US"/>
              <a:t>This is the most popular data manipulation package in Python.</a:t>
            </a:r>
            <a:endParaRPr/>
          </a:p>
          <a:p>
            <a:pPr indent="0" lvl="0" marL="0" rtl="0" algn="l">
              <a:lnSpc>
                <a:spcPct val="90000"/>
              </a:lnSpc>
              <a:spcBef>
                <a:spcPts val="1000"/>
              </a:spcBef>
              <a:spcAft>
                <a:spcPts val="0"/>
              </a:spcAft>
              <a:buClr>
                <a:schemeClr val="dk1"/>
              </a:buClr>
              <a:buSzPts val="2800"/>
              <a:buNone/>
            </a:pPr>
            <a:r>
              <a:rPr b="1" lang="en-US"/>
              <a:t>Matplotlib:</a:t>
            </a:r>
            <a:endParaRPr/>
          </a:p>
          <a:p>
            <a:pPr indent="0" lvl="0" marL="0" rtl="0" algn="l">
              <a:lnSpc>
                <a:spcPct val="90000"/>
              </a:lnSpc>
              <a:spcBef>
                <a:spcPts val="1000"/>
              </a:spcBef>
              <a:spcAft>
                <a:spcPts val="0"/>
              </a:spcAft>
              <a:buClr>
                <a:schemeClr val="dk1"/>
              </a:buClr>
              <a:buSzPts val="2800"/>
              <a:buNone/>
            </a:pPr>
            <a:r>
              <a:rPr lang="en-US"/>
              <a:t>This is a plotting library used for 2D graphics in Python programming language.</a:t>
            </a:r>
            <a:endParaRPr/>
          </a:p>
          <a:p>
            <a:pPr indent="0" lvl="0" marL="0" rtl="0" algn="l">
              <a:lnSpc>
                <a:spcPct val="90000"/>
              </a:lnSpc>
              <a:spcBef>
                <a:spcPts val="1000"/>
              </a:spcBef>
              <a:spcAft>
                <a:spcPts val="0"/>
              </a:spcAft>
              <a:buClr>
                <a:schemeClr val="dk1"/>
              </a:buClr>
              <a:buSzPts val="2800"/>
              <a:buNone/>
            </a:pPr>
            <a:r>
              <a:rPr b="1" lang="en-US"/>
              <a:t>Seaborn:</a:t>
            </a:r>
            <a:endParaRPr b="1"/>
          </a:p>
          <a:p>
            <a:pPr indent="0" lvl="0" marL="0" rtl="0" algn="l">
              <a:lnSpc>
                <a:spcPct val="90000"/>
              </a:lnSpc>
              <a:spcBef>
                <a:spcPts val="1000"/>
              </a:spcBef>
              <a:spcAft>
                <a:spcPts val="0"/>
              </a:spcAft>
              <a:buClr>
                <a:schemeClr val="dk1"/>
              </a:buClr>
              <a:buSzPts val="2800"/>
              <a:buNone/>
            </a:pPr>
            <a:r>
              <a:rPr lang="en-US"/>
              <a:t>Seaborn is a Python data visualization library based on Matplotlib. It provides a high-level interface for drawing attractive and informative statistical graphics.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838200" y="365125"/>
            <a:ext cx="10515600" cy="61118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9600"/>
              <a:buFont typeface="Calibri"/>
              <a:buNone/>
            </a:pPr>
            <a:r>
              <a:rPr lang="en-US" sz="9600"/>
              <a:t>Let’s code</a:t>
            </a:r>
            <a:endParaRPr sz="9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